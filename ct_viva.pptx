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Tinos"/>
      <ns0:bold ns1:id="rIdFont18"/>
      <ns0:italic ns1:id="rIdFont19"/>
      <ns0:boldItalic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Font18" Type="http://schemas.openxmlformats.org/officeDocument/2006/relationships/font" Target="fonts/d8e480d7-c0d0-496e-985d-5dd86955c8c7.fntdata"/><Relationship Id="rIdFont19" Type="http://schemas.openxmlformats.org/officeDocument/2006/relationships/font" Target="fonts/004d5fb4-2d60-457e-bb74-ca74c4fb7a20.fntdata"/><Relationship Id="rIdFont20" Type="http://schemas.openxmlformats.org/officeDocument/2006/relationships/font" Target="fonts/3f29324f-9bc0-45e9-9b77-483c14476ac3.fntdata"/><Relationship Id="rIdFont21" Type="http://schemas.openxmlformats.org/officeDocument/2006/relationships/font" Target="fonts/30c6675a-005f-4422-b194-71401cfa799e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8988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831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Indore Institute of Science &amp;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31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DF3DC"/>
                </a:solidFill>
              </a:rPr>
              <a:t>Department of Information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A580C"/>
                </a:solidFill>
              </a:rPr>
              <a:t>A Minor Project Presentation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64040" cy="160020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21408"/>
            <a:ext cx="9189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B91C1C"/>
                </a:solidFill>
              </a:rPr>
              <a:t>CYBERTRACE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743200"/>
            <a:ext cx="9189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C1917"/>
                </a:solidFill>
              </a:rPr>
              <a:t>Real-Time Network Security Monitoring &amp; Anomaly Detection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67328"/>
            <a:ext cx="946404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136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Project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9392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Ms. Rupal Yadav
Department of Information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136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Presented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793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Priyanshi Gupta        0818IT241053
Palak Yadav              0818IT241047
Vishwajeet Singh Tomar  0818IT241075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39496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917"/>
                </a:solidFill>
              </a:rPr>
              <a:t>Academic Year: 2024 –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580C"/>
                </a:solidFill>
              </a:rPr>
              <a:t>Indore Institute of Science &amp; Technology  |  Minor Project –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00  • 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25296" y="1472184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417320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01. Proposed Area and Topic: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4528" y="1417320"/>
            <a:ext cx="13533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Domain focus and project title.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472184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6016" y="1417320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02. Introduction: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1417320"/>
            <a:ext cx="245973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Overview of the CyberTrace platform.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167128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2112264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03. Objectives: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112264"/>
            <a:ext cx="2660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Five primary goals of the project.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167128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04. Proposed Methodology: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112264"/>
            <a:ext cx="1655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System architecture and data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862072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2807208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05. Technical Details: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807208"/>
            <a:ext cx="195681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Minimum hardware and software stack.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862072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6016" y="2807208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06. Expected Outcome: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807208"/>
            <a:ext cx="2057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Project deliverables and impact.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3557016"/>
            <a:ext cx="73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3502152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</a:rPr>
              <a:t>07. References: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6936" y="3502152"/>
            <a:ext cx="26609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</a:rPr>
              <a:t>Standard papers and documentation.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1417320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01. Proposed Area and Topic: </a:t>
            </a:r>
            <a:r>
              <a:rPr sz="1800" b="0">
                <a:solidFill>
                  <a:srgbClr val="1C1917"/>
                </a:solidFill>
              </a:rPr>
              <a:t>Domain focus and project title.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6016" y="1417320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02. Introduction: </a:t>
            </a:r>
            <a:r>
              <a:rPr sz="1800" b="0">
                <a:solidFill>
                  <a:srgbClr val="1C1917"/>
                </a:solidFill>
              </a:rPr>
              <a:t>Overview of the CyberTrace platform.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2112264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03. Objectives: </a:t>
            </a:r>
            <a:r>
              <a:rPr sz="1800" b="0">
                <a:solidFill>
                  <a:srgbClr val="1C1917"/>
                </a:solidFill>
              </a:rPr>
              <a:t>Five primary goals of the project.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2112264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04. Proposed Methodology: </a:t>
            </a:r>
            <a:r>
              <a:rPr sz="1800" b="0">
                <a:solidFill>
                  <a:srgbClr val="1C1917"/>
                </a:solidFill>
              </a:rPr>
              <a:t>System architecture and data 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07592" y="2807208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05. Technical Details: </a:t>
            </a:r>
            <a:r>
              <a:rPr sz="1800" b="0">
                <a:solidFill>
                  <a:srgbClr val="1C1917"/>
                </a:solidFill>
              </a:rPr>
              <a:t>Minimum hardware and software stack.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86016" y="2807208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06. Expected Outcome: </a:t>
            </a:r>
            <a:r>
              <a:rPr sz="1800" b="0">
                <a:solidFill>
                  <a:srgbClr val="1C1917"/>
                </a:solidFill>
              </a:rPr>
              <a:t>Project deliverables and impact.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7592" y="3502152"/>
            <a:ext cx="42702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07. References: </a:t>
            </a:r>
            <a:r>
              <a:rPr sz="1800" b="0">
                <a:solidFill>
                  <a:srgbClr val="1C1917"/>
                </a:solidFill>
              </a:rPr>
              <a:t>Standard papers and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01  •  Font Style: Times New Roman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Proposed Area and Topic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5294376" cy="3310128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916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Proposed Area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21408"/>
            <a:ext cx="4672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Cybersecurity Domain: </a:t>
            </a:r>
            <a:r>
              <a:rPr sz="1500" b="0">
                <a:solidFill>
                  <a:srgbClr val="1C1917"/>
                </a:solidFill>
              </a:rPr>
              <a:t>Network traffic inspection and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96896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15184"/>
            <a:ext cx="4672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Intrusion Detection: </a:t>
            </a:r>
            <a:r>
              <a:rPr sz="1500" b="0">
                <a:solidFill>
                  <a:srgbClr val="1C1917"/>
                </a:solidFill>
              </a:rPr>
              <a:t>Automated, rule-based threat identification.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090672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108960"/>
            <a:ext cx="4672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Packet Monitoring: </a:t>
            </a:r>
            <a:r>
              <a:rPr sz="1500" b="0">
                <a:solidFill>
                  <a:srgbClr val="1C1917"/>
                </a:solidFill>
              </a:rPr>
              <a:t>Real-time and historical stream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84448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602736"/>
            <a:ext cx="4672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Cost Efficiency: </a:t>
            </a:r>
            <a:r>
              <a:rPr sz="1500" b="0">
                <a:solidFill>
                  <a:srgbClr val="1C1917"/>
                </a:solidFill>
              </a:rPr>
              <a:t>Open-source alternative to costly enterprise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" y="4864608"/>
            <a:ext cx="5294376" cy="153619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07492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</a:rPr>
              <a:t>Proposed Project 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3949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1917"/>
                </a:solidFill>
              </a:rPr>
              <a:t>CyberTrace: Real-Time Network Security Monitoring &amp; Anomaly Detection System using Python, FastAPI, and React.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5486400" cy="49834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0020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91C1C"/>
                </a:solidFill>
              </a:rPr>
              <a:t>Why This Project?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084831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→  Global cybercrime damage is projected to reach $10.5 trillion annually by 2025.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34639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→  Most existing IDS tools are expensive and require deep expertise to operate.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84447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→  Institutions and small teams lack accessible, real-time threat visibility tools.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334255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→  CyberTrace will provide a lightweight, open-source dashboard that any IT team can deploy.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84063"/>
            <a:ext cx="5074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→  It will bridge the gap between raw packet data and actionable security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02  •  Brief Introduction of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10972800" cy="932688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1554480"/>
            <a:ext cx="121889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1">
                <a:solidFill>
                  <a:srgbClr val="B91C1C"/>
                </a:solidFill>
              </a:rPr>
              <a:t> "CyberTrace will bridge raw network data and actionable security intelligence — in real time."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The proposed system aims to monitor network activity continuously, identify threats automatically, and present findings through an intuitive web-based dashboard — without requiring expensive enterprise solutions.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182112"/>
            <a:ext cx="3483864" cy="299923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40156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What It Will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85615"/>
            <a:ext cx="32095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Capture and parse network packets (live or from PCAP files) and run them through multiple anomaly detection engines to flag threats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3182112"/>
            <a:ext cx="3483864" cy="299923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40156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</a:rPr>
              <a:t>How It Will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785615"/>
            <a:ext cx="32095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A Scapy-based capture layer will feed a FastAPI backend that processes packets, stores alerts, and serves data via REST and WebSocket to a React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3182112"/>
            <a:ext cx="3483864" cy="299923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59" y="340156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3785615"/>
            <a:ext cx="3209544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Early automated threat detection reduces incident response time. The system will be deployable by small teams without enterprise-level licensing or infrastructure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03  •  Goals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389888"/>
            <a:ext cx="10972800" cy="76809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36192"/>
            <a:ext cx="10040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Packet Capture:  </a:t>
            </a:r>
            <a:r>
              <a:rPr sz="1400" b="0">
                <a:solidFill>
                  <a:srgbClr val="1C1917"/>
                </a:solidFill>
              </a:rPr>
              <a:t>Develop a module to capture live traffic from a network interface and parse recorded PCAP files using the Scapy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194560"/>
            <a:ext cx="10972800" cy="768096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359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40864"/>
            <a:ext cx="10040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Anomaly Detection:  </a:t>
            </a:r>
            <a:r>
              <a:rPr sz="1400" b="0">
                <a:solidFill>
                  <a:srgbClr val="1C1917"/>
                </a:solidFill>
              </a:rPr>
              <a:t>Implement rule-based and ML-threshold detectors for DoS attacks, Port Scans, and DNS anomalies to generate real-time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2999232"/>
            <a:ext cx="10972800" cy="76809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16382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45536"/>
            <a:ext cx="10040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Web Dashboard:  </a:t>
            </a:r>
            <a:r>
              <a:rPr sz="1400" b="0">
                <a:solidFill>
                  <a:srgbClr val="1C1917"/>
                </a:solidFill>
              </a:rPr>
              <a:t>Design a responsive, browser-based UI using React JS to display live packet metrics, protocol charts, and active threat alerts.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" y="3803904"/>
            <a:ext cx="10972800" cy="768096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96849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50208"/>
            <a:ext cx="10040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PCAP Forensics:  </a:t>
            </a:r>
            <a:r>
              <a:rPr sz="1400" b="0">
                <a:solidFill>
                  <a:srgbClr val="1C1917"/>
                </a:solidFill>
              </a:rPr>
              <a:t>Build an upload module allowing investigators to submit stored .pcap files for offline threat analysis and report generation.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4608576"/>
            <a:ext cx="10972800" cy="76809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773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54880"/>
            <a:ext cx="10040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C1917"/>
                </a:solidFill>
              </a:rPr>
              <a:t>Decoupled Design:  </a:t>
            </a:r>
            <a:r>
              <a:rPr sz="1400" b="0">
                <a:solidFill>
                  <a:srgbClr val="1C1917"/>
                </a:solidFill>
              </a:rPr>
              <a:t>Architect the system as a modular FastAPI backend paired with a React frontend, enabling independent scaling of each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04  •  Proposed Algorithm /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Proposed Methodology: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389888"/>
            <a:ext cx="2368296" cy="512064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</a:rP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75104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Data Capture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4096" y="3657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The system will use Scapy to sniff live packets from a NIC or read uploaded PCAP files through a PCAPReader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389888"/>
            <a:ext cx="2368296" cy="5120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5727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975104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Detection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657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5146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Each parsed packet will pass through four detector modules: DoSDetector, PortScanDetector, DNSAnomalyDetector, and MLAnomalyDetector.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389888"/>
            <a:ext cx="2368296" cy="512064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5727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91C1C"/>
                </a:solidFill>
              </a:rPr>
              <a:t>LAYER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1975104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Backend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0224" y="3657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5146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FastAPI will expose REST endpoints (/api/metrics, /api/alerts, /api/upload_pcap) and a WebSocket channel for live streaming.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389888"/>
            <a:ext cx="2368296" cy="512064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1432" y="157276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975104"/>
            <a:ext cx="2148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C1917"/>
                </a:solidFill>
              </a:rPr>
              <a:t>Frontend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14600"/>
            <a:ext cx="2148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A React + Vite application will render an interactive dashboard featuring live charts, an alert panel, and a PCAP upload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04  •  Process of the Whole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Proposed Methodology: Flow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4048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C1C"/>
                </a:solidFill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02536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5688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1024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C1C"/>
                </a:solidFill>
              </a:rP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39512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</a:rP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C1C"/>
                </a:solidFill>
              </a:rPr>
              <a:t>ALERT / 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76488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A580C"/>
                </a:solidFill>
              </a:rPr>
              <a:t>SERVE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1591056"/>
            <a:ext cx="201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580C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94976" y="1389888"/>
            <a:ext cx="1417320" cy="676656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1463040"/>
            <a:ext cx="1289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91C1C"/>
                </a:solidFill>
              </a:rPr>
              <a:t>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System initialises and selects capture source (Live NIC or PCAP file).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02536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93976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Scapy captures or reads packets and sends them to the Packet Parser.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21024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4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Parser extracts: Source/Dest IP, Port, Protocol, Payload size, Timestamp.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9512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0952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Four engines run in parallel: DoS, PortScan, DNSAnomaly, MLThreshold.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Flagged packets generate alerts stored in SQLite via SQLAlchemy ORM.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76488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67928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FastAPI serves metrics and alerts via REST + WebSocket to the React frontend.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94976" y="2304288"/>
            <a:ext cx="1417320" cy="4096512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86416" y="2414016"/>
            <a:ext cx="125272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917"/>
                </a:solidFill>
              </a:rPr>
              <a:t>React dashboard renders live charts, an alert feed, and forensics upload 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05  •  Hardware and Software Requirement (MIN)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Technical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389888"/>
            <a:ext cx="5294376" cy="498348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Hardware Requirements (MIN)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66543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System Type: </a:t>
            </a:r>
            <a:r>
              <a:rPr sz="1500" b="0">
                <a:solidFill>
                  <a:srgbClr val="1C1917"/>
                </a:solidFill>
              </a:rPr>
              <a:t>Standard PC or Laptop.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24911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43199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Memory (RAM): </a:t>
            </a:r>
            <a:r>
              <a:rPr sz="1500" b="0">
                <a:solidFill>
                  <a:srgbClr val="1C1917"/>
                </a:solidFill>
              </a:rPr>
              <a:t>Minimum 4 GB (8 GB Recommended).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79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401567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Processor: </a:t>
            </a:r>
            <a:r>
              <a:rPr sz="1500" b="0">
                <a:solidFill>
                  <a:srgbClr val="1C1917"/>
                </a:solidFill>
              </a:rPr>
              <a:t>Intel Core i3+ or AMD Ryzen 3+.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41647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059935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Network Card: </a:t>
            </a:r>
            <a:r>
              <a:rPr sz="1500" b="0">
                <a:solidFill>
                  <a:srgbClr val="1C1917"/>
                </a:solidFill>
              </a:rPr>
              <a:t>Standard NIC for live packet capture.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5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718303"/>
            <a:ext cx="4800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Disk Space: </a:t>
            </a:r>
            <a:r>
              <a:rPr sz="1500" b="0">
                <a:solidFill>
                  <a:srgbClr val="1C1917"/>
                </a:solidFill>
              </a:rPr>
              <a:t>Minimum 500 MB free storage.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389888"/>
            <a:ext cx="5294376" cy="498348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627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91C1C"/>
                </a:solidFill>
              </a:rPr>
              <a:t>Software Requirements &amp; 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66543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084831"/>
            <a:ext cx="4828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Languages: </a:t>
            </a:r>
            <a:r>
              <a:rPr sz="1500" b="0">
                <a:solidFill>
                  <a:srgbClr val="1C1917"/>
                </a:solidFill>
              </a:rPr>
              <a:t>Python 3.x and JavaScript (ES2022).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24911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743199"/>
            <a:ext cx="4828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Packet Capture: </a:t>
            </a:r>
            <a:r>
              <a:rPr sz="1500" b="0">
                <a:solidFill>
                  <a:srgbClr val="1C1917"/>
                </a:solidFill>
              </a:rPr>
              <a:t>Scapy – sniffing and PCAP parsing.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383279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401567"/>
            <a:ext cx="4828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Backend &amp; DB: </a:t>
            </a:r>
            <a:r>
              <a:rPr sz="1500" b="0">
                <a:solidFill>
                  <a:srgbClr val="1C1917"/>
                </a:solidFill>
              </a:rPr>
              <a:t>FastAPI, Uvicorn, SQLite, SQLAlchemy.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41647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059935"/>
            <a:ext cx="4828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Frontend UI: </a:t>
            </a:r>
            <a:r>
              <a:rPr sz="1500" b="0">
                <a:solidFill>
                  <a:srgbClr val="1C1917"/>
                </a:solidFill>
              </a:rPr>
              <a:t>React JS, Vite, TailwindCSS, Recharts.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700015"/>
            <a:ext cx="64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917"/>
                </a:solidFill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718303"/>
            <a:ext cx="4828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C1917"/>
                </a:solidFill>
              </a:rPr>
              <a:t>OS Support: </a:t>
            </a:r>
            <a:r>
              <a:rPr sz="1500" b="0">
                <a:solidFill>
                  <a:srgbClr val="1C1917"/>
                </a:solidFill>
              </a:rPr>
              <a:t>Linux (Recommended) and Windows.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5720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06  •  Summary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58368"/>
            <a:ext cx="11585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Expected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170432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389888"/>
            <a:ext cx="5376672" cy="233172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5727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91C1C"/>
                </a:solidFill>
              </a:rPr>
              <a:t>1. Functional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2029968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A working prototype capable of capturing live packets or reading PCAP files, detecting anomalies, and generating real-time security alerts through automated rule engines.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389888"/>
            <a:ext cx="5376672" cy="23317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57276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</a:rPr>
              <a:t>2. Interactive Web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029968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A browser-based React dashboard displaying live traffic metrics, protocol distribution charts, and a threat alert feed — accessible from any device on the network.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" y="3968496"/>
            <a:ext cx="5376672" cy="233172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415137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91C1C"/>
                </a:solidFill>
              </a:rPr>
              <a:t>3. PCAP Forensics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608576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A dedicated forensics page allowing investigators to upload recorded .pcap files for offline analysis and downloadable incident reports for post-event investigation.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3968496"/>
            <a:ext cx="5376672" cy="233172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4151376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A580C"/>
                </a:solidFill>
              </a:rPr>
              <a:t>4. Scalable &amp; Decoupled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4608576"/>
            <a:ext cx="4892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917"/>
                </a:solidFill>
              </a:rPr>
              <a:t>A cleanly separated FastAPI backend and React frontend ensuring each layer can be independently maintained, scaled, or upgraded without disrupting the other.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0040"/>
            <a:ext cx="11585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Section 07  •  Citations &amp;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21207"/>
            <a:ext cx="11585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B91C1C"/>
                </a:solidFill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05840"/>
            <a:ext cx="10972800" cy="274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143000"/>
            <a:ext cx="10972800" cy="3520440"/>
          </a:xfrm>
          <a:prstGeom prst="roundRect">
            <a:avLst>
              <a:gd name="adj" fmla="val 5000"/>
            </a:avLst>
          </a:prstGeom>
          <a:solidFill>
            <a:srgbClr val="FDF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[1] RFC 793: Transmission Control Protocol (TCP), IETF, 1981.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379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[2] Scapy Documentation: Packet Manipulation Library — https://scapy.net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[3] FastAPI Documentation: High Performance APIs with Python — https://fastapi.tiangolo.com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[4] React JS Documentation: JavaScript Library for Building UIs — https://react.dev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[5] V. Chandola et al.: "Anomaly Detection: A Survey", ACM Computing Surveys, 2009.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</a:rPr>
              <a:t>[6] UI Component Library: TailwindCSS &amp; DaisyUI — https://daisyui.com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93776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B91C1C"/>
                </a:solidFill>
              </a:rPr>
              <a:t>Thank You!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57784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1C1917"/>
                </a:solidFill>
              </a:rPr>
              <a:t>We look forward to your guidance and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EB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7155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875234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Tino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23937"/>
            <a:ext cx="8691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Tinos"/>
              </a:rPr>
              <a:t>https://cdn.prod.website-files.com/6a9832a0d0b02b3817cea503/6ab12de09e3951699bdf84db_SNC_Cybersecurity_hero_v002.webp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23962"/>
            <a:ext cx="195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Tino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Tinos"/>
              </a:rPr>
              <a:t>www.sncorp.com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