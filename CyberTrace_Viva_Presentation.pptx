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4995" autoAdjust="0"/>
    <p:restoredTop sz="94660"/>
  </p:normalViewPr>
  <p:slideViewPr>
    <p:cSldViewPr snapToGrid="0">
      <p:cViewPr varScale="1">
        <p:scale>
          <a:sx n="54" d="100"/>
          <a:sy n="54" d="100"/>
        </p:scale>
        <p:origin x="-648" y="-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C7C17-EEB2-4B01-B13C-496B1DA18050}" type="datetimeFigureOut">
              <a:rPr lang="en-IN" smtClean="0"/>
              <a:pPr/>
              <a:t>08-10-2026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11D3E-F6AF-4B88-A43F-59C5FF1337BF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33166032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C7C17-EEB2-4B01-B13C-496B1DA18050}" type="datetimeFigureOut">
              <a:rPr lang="en-IN" smtClean="0"/>
              <a:pPr/>
              <a:t>08-10-2026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11D3E-F6AF-4B88-A43F-59C5FF1337BF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4234164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C7C17-EEB2-4B01-B13C-496B1DA18050}" type="datetimeFigureOut">
              <a:rPr lang="en-IN" smtClean="0"/>
              <a:pPr/>
              <a:t>08-10-2026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11D3E-F6AF-4B88-A43F-59C5FF1337BF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1549993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C7C17-EEB2-4B01-B13C-496B1DA18050}" type="datetimeFigureOut">
              <a:rPr lang="en-IN" smtClean="0"/>
              <a:pPr/>
              <a:t>08-10-2026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11D3E-F6AF-4B88-A43F-59C5FF1337BF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2049404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C7C17-EEB2-4B01-B13C-496B1DA18050}" type="datetimeFigureOut">
              <a:rPr lang="en-IN" smtClean="0"/>
              <a:pPr/>
              <a:t>08-10-2026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11D3E-F6AF-4B88-A43F-59C5FF1337BF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2546824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C7C17-EEB2-4B01-B13C-496B1DA18050}" type="datetimeFigureOut">
              <a:rPr lang="en-IN" smtClean="0"/>
              <a:pPr/>
              <a:t>08-10-2026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11D3E-F6AF-4B88-A43F-59C5FF1337BF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3362857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C7C17-EEB2-4B01-B13C-496B1DA18050}" type="datetimeFigureOut">
              <a:rPr lang="en-IN" smtClean="0"/>
              <a:pPr/>
              <a:t>08-10-2026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11D3E-F6AF-4B88-A43F-59C5FF1337BF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1139514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F0C7C17-EEB2-4B01-B13C-496B1DA18050}" type="datetimeFigureOut">
              <a:rPr lang="en-IN" smtClean="0"/>
              <a:pPr/>
              <a:t>08-10-2026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1D11D3E-F6AF-4B88-A43F-59C5FF1337BF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8589607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C7C17-EEB2-4B01-B13C-496B1DA18050}" type="datetimeFigureOut">
              <a:rPr lang="en-IN" smtClean="0"/>
              <a:pPr/>
              <a:t>08-10-2026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11D3E-F6AF-4B88-A43F-59C5FF1337BF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23057462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C7C17-EEB2-4B01-B13C-496B1DA18050}" type="datetimeFigureOut">
              <a:rPr lang="en-IN" smtClean="0"/>
              <a:pPr/>
              <a:t>08-10-2026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11D3E-F6AF-4B88-A43F-59C5FF1337BF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40594335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C7C17-EEB2-4B01-B13C-496B1DA18050}" type="datetimeFigureOut">
              <a:rPr lang="en-IN" smtClean="0"/>
              <a:pPr/>
              <a:t>08-10-2026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11D3E-F6AF-4B88-A43F-59C5FF1337BF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299475283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0C7C17-EEB2-4B01-B13C-496B1DA18050}" type="datetimeFigureOut">
              <a:rPr lang="en-IN" smtClean="0"/>
              <a:pPr/>
              <a:t>08-10-2026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F1D11D3E-F6AF-4B88-A43F-59C5FF1337BF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1208320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8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87784" y="0"/>
            <a:ext cx="201168" cy="1051560"/>
          </a:xfrm>
          <a:prstGeom prst="rect">
            <a:avLst/>
          </a:prstGeom>
          <a:solidFill>
            <a:srgbClr val="B8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Indore Institute of Science &amp; Technology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59436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DF0E0"/>
                </a:solidFill>
              </a:rPr>
              <a:t>Department of Information Technology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170432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A3800"/>
                </a:solidFill>
              </a:rPr>
              <a:t>A Minor Project Presentation 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1719072"/>
            <a:ext cx="9601200" cy="1572768"/>
          </a:xfrm>
          <a:prstGeom prst="rect">
            <a:avLst/>
          </a:prstGeom>
          <a:solidFill>
            <a:srgbClr val="B8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80160" y="1719072"/>
            <a:ext cx="91440" cy="1572768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89920" y="1719072"/>
            <a:ext cx="91440" cy="1572768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1810512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4A800"/>
                </a:solidFill>
              </a:rPr>
              <a:t>CYBERTRACE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450592"/>
            <a:ext cx="9235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</a:rPr>
              <a:t>Real-Time Network Security Monitoring  &amp;  Anomaly Detection System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3456432"/>
            <a:ext cx="9784080" cy="25400"/>
          </a:xfrm>
          <a:prstGeom prst="rect">
            <a:avLst/>
          </a:prstGeom>
          <a:solidFill>
            <a:srgbClr val="E8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63931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84000"/>
                </a:solidFill>
              </a:rPr>
              <a:t>Guided By: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41648"/>
            <a:ext cx="4114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1800"/>
                </a:solidFill>
              </a:rPr>
              <a:t>[Professor Name]
Department of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63931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84000"/>
                </a:solidFill>
              </a:rPr>
              <a:t>Presented By: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4041648"/>
            <a:ext cx="4114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1800"/>
                </a:solidFill>
              </a:rPr>
              <a:t>Priyanshi Gupta  [Enrollment No.]
[Team Member Names]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498348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A3800"/>
                </a:solidFill>
              </a:rPr>
              <a:t>Academic Year: 2024 – 2025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729984"/>
            <a:ext cx="12188952" cy="128016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729984"/>
            <a:ext cx="320040" cy="12801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xmlns="" val="4203609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B8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261872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15800" y="0"/>
            <a:ext cx="73152" cy="12618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4124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A800"/>
                </a:solidFill>
              </a:rPr>
              <a:t>Topics Covered in This Presentation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9984"/>
            <a:ext cx="12188952" cy="128016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729984"/>
            <a:ext cx="320040" cy="12801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81328"/>
            <a:ext cx="5029200" cy="585216"/>
          </a:xfrm>
          <a:prstGeom prst="rect">
            <a:avLst/>
          </a:prstGeom>
          <a:solidFill>
            <a:srgbClr val="E8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481328"/>
            <a:ext cx="530352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157276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8601A"/>
                </a:solidFill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3584" y="1591056"/>
            <a:ext cx="4297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Proposed Area &amp; Topic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481328"/>
            <a:ext cx="5029200" cy="585216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481328"/>
            <a:ext cx="530352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157276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4A800"/>
                </a:solidFill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04304" y="1591056"/>
            <a:ext cx="4297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A1800"/>
                </a:solidFill>
              </a:rPr>
              <a:t>Introduction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167128"/>
            <a:ext cx="5029200" cy="585216"/>
          </a:xfrm>
          <a:prstGeom prst="rect">
            <a:avLst/>
          </a:prstGeom>
          <a:solidFill>
            <a:srgbClr val="E8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2167128"/>
            <a:ext cx="530352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25856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8601A"/>
                </a:solidFill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43584" y="2276856"/>
            <a:ext cx="4297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Objectives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167128"/>
            <a:ext cx="5029200" cy="585216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2167128"/>
            <a:ext cx="530352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7376" y="225856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4A800"/>
                </a:solidFill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04304" y="2276856"/>
            <a:ext cx="4297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A1800"/>
                </a:solidFill>
              </a:rPr>
              <a:t>Proposed Methodology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2852928"/>
            <a:ext cx="5029200" cy="585216"/>
          </a:xfrm>
          <a:prstGeom prst="rect">
            <a:avLst/>
          </a:prstGeom>
          <a:solidFill>
            <a:srgbClr val="E8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2852928"/>
            <a:ext cx="530352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294436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8601A"/>
                </a:solidFill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43584" y="2962656"/>
            <a:ext cx="4297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Technical Details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2852928"/>
            <a:ext cx="5029200" cy="585216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0" y="2852928"/>
            <a:ext cx="530352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37376" y="294436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4A800"/>
                </a:solidFill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4304" y="2962656"/>
            <a:ext cx="4297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A1800"/>
                </a:solidFill>
              </a:rPr>
              <a:t>Expected Outcome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3538728"/>
            <a:ext cx="5029200" cy="585216"/>
          </a:xfrm>
          <a:prstGeom prst="rect">
            <a:avLst/>
          </a:prstGeom>
          <a:solidFill>
            <a:srgbClr val="E8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3538728"/>
            <a:ext cx="530352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" y="363016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8601A"/>
                </a:solidFill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43584" y="3648456"/>
            <a:ext cx="4297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xmlns="" val="2469800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B8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261872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15800" y="0"/>
            <a:ext cx="73152" cy="12618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Proposed Area &amp; Topic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4124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A800"/>
                </a:solidFill>
              </a:rPr>
              <a:t>Problem Domain  |  Research Focus  |  Motivation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9984"/>
            <a:ext cx="12188952" cy="128016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729984"/>
            <a:ext cx="320040" cy="12801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349240" cy="5166360"/>
          </a:xfrm>
          <a:prstGeom prst="rect">
            <a:avLst/>
          </a:prstGeom>
          <a:solidFill>
            <a:srgbClr val="FD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5349240" cy="475488"/>
          </a:xfrm>
          <a:prstGeom prst="rect">
            <a:avLst/>
          </a:prstGeom>
          <a:solidFill>
            <a:srgbClr val="E8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17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AREA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9339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A1800"/>
                </a:solidFill>
              </a:rPr>
              <a:t>• Cybersecurity &amp; Network Traffic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58775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A1800"/>
                </a:solidFill>
              </a:rPr>
              <a:t>• Intrusion Detection Systems (IDS)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18211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A1800"/>
                </a:solidFill>
              </a:rPr>
              <a:t>• Real-time Packet Monitoring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520440"/>
            <a:ext cx="4937760" cy="19050"/>
          </a:xfrm>
          <a:prstGeom prst="rect">
            <a:avLst/>
          </a:prstGeom>
          <a:solidFill>
            <a:srgbClr val="E8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576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</a:rPr>
              <a:t>MOTIVATION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041648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1800"/>
                </a:solidFill>
              </a:rPr>
              <a:t>Cyber attacks are rising exponentially. Traditional monitoring tools are complex and siloed. CyberTrace brings clarity to threat detection using open-source technology.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1371600"/>
            <a:ext cx="5715000" cy="5166360"/>
          </a:xfrm>
          <a:prstGeom prst="rect">
            <a:avLst/>
          </a:prstGeom>
          <a:solidFill>
            <a:srgbClr val="B8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1371600"/>
            <a:ext cx="5715000" cy="475488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44768" y="1417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1800"/>
                </a:solidFill>
              </a:rPr>
              <a:t>TOPIC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1965960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4A800"/>
                </a:solidFill>
              </a:rPr>
              <a:t>CyberTrace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254203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Real-Time Network Security Monitoring
&amp; Anomaly Detection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3337560"/>
            <a:ext cx="5120640" cy="19050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3493008"/>
            <a:ext cx="5349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DF0E0"/>
                </a:solidFill>
              </a:rPr>
              <a:t>The project captures live or recorded network packets, passes them through anomaly detection engines (rule-based + ML thresholding), and displays real-time metrics on a modern web dashboard built with React + FastAPI.</a:t>
            </a:r>
          </a:p>
        </p:txBody>
      </p:sp>
    </p:spTree>
    <p:extLst>
      <p:ext uri="{BB962C8B-B14F-4D97-AF65-F5344CB8AC3E}">
        <p14:creationId xmlns:p14="http://schemas.microsoft.com/office/powerpoint/2010/main" xmlns="" val="11513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B8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261872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15800" y="0"/>
            <a:ext cx="73152" cy="12618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4124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A800"/>
                </a:solidFill>
              </a:rPr>
              <a:t>What is CyberTrace?  |  Why does it matter?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9984"/>
            <a:ext cx="12188952" cy="128016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729984"/>
            <a:ext cx="320040" cy="12801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89888"/>
            <a:ext cx="11247120" cy="804672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89888"/>
            <a:ext cx="109728" cy="8046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517904"/>
            <a:ext cx="10835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1">
                <a:solidFill>
                  <a:srgbClr val="2A1800"/>
                </a:solidFill>
              </a:rPr>
              <a:t>"CyberTrace bridges raw network data and actionable security intelligence — in real time."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59152"/>
            <a:ext cx="3566160" cy="4069080"/>
          </a:xfrm>
          <a:prstGeom prst="rect">
            <a:avLst/>
          </a:prstGeom>
          <a:solidFill>
            <a:srgbClr val="FFFFFF"/>
          </a:solidFill>
          <a:ln w="10160">
            <a:solidFill>
              <a:srgbClr val="F4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359152"/>
            <a:ext cx="3566160" cy="512064"/>
          </a:xfrm>
          <a:prstGeom prst="rect">
            <a:avLst/>
          </a:prstGeom>
          <a:solidFill>
            <a:srgbClr val="E8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14016"/>
            <a:ext cx="33649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990088"/>
            <a:ext cx="329184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1800"/>
                </a:solidFill>
              </a:rPr>
              <a:t>Captures &amp; parses live or PCAP-based network packets and runs them through multiple detection algorithms to flag threats automatically.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5968" y="2359152"/>
            <a:ext cx="3566160" cy="4069080"/>
          </a:xfrm>
          <a:prstGeom prst="rect">
            <a:avLst/>
          </a:prstGeom>
          <a:solidFill>
            <a:srgbClr val="FFFFFF"/>
          </a:solidFill>
          <a:ln w="10160">
            <a:solidFill>
              <a:srgbClr val="F4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5968" y="2359152"/>
            <a:ext cx="3566160" cy="512064"/>
          </a:xfrm>
          <a:prstGeom prst="rect">
            <a:avLst/>
          </a:prstGeom>
          <a:solidFill>
            <a:srgbClr val="B8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25696" y="2414016"/>
            <a:ext cx="33649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How It Works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8" y="2990088"/>
            <a:ext cx="329184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1800"/>
                </a:solidFill>
              </a:rPr>
              <a:t>A decoupled architecture: Scapy handles capture, FastAPI serves a REST API, and React renders beautiful, real-time dashboards.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74736" y="2359152"/>
            <a:ext cx="3566160" cy="4069080"/>
          </a:xfrm>
          <a:prstGeom prst="rect">
            <a:avLst/>
          </a:prstGeom>
          <a:solidFill>
            <a:srgbClr val="FFFFFF"/>
          </a:solidFill>
          <a:ln w="10160">
            <a:solidFill>
              <a:srgbClr val="F4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74736" y="2359152"/>
            <a:ext cx="3566160" cy="512064"/>
          </a:xfrm>
          <a:prstGeom prst="rect">
            <a:avLst/>
          </a:prstGeom>
          <a:solidFill>
            <a:srgbClr val="E8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4" y="2414016"/>
            <a:ext cx="33649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Why It Matters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2990088"/>
            <a:ext cx="329184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1800"/>
                </a:solidFill>
              </a:rPr>
              <a:t>Early threat detection reduces incident response time. CyberTrace makes that accessible without enterprise cost.</a:t>
            </a:r>
          </a:p>
        </p:txBody>
      </p:sp>
    </p:spTree>
    <p:extLst>
      <p:ext uri="{BB962C8B-B14F-4D97-AF65-F5344CB8AC3E}">
        <p14:creationId xmlns:p14="http://schemas.microsoft.com/office/powerpoint/2010/main" xmlns="" val="20156940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B8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261872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15800" y="0"/>
            <a:ext cx="73152" cy="12618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4124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A800"/>
                </a:solidFill>
              </a:rPr>
              <a:t>Clear Goals for the CyberTrace Project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9984"/>
            <a:ext cx="12188952" cy="128016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729984"/>
            <a:ext cx="320040" cy="12801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89888"/>
            <a:ext cx="10972800" cy="704088"/>
          </a:xfrm>
          <a:prstGeom prst="rect">
            <a:avLst/>
          </a:prstGeom>
          <a:solidFill>
            <a:srgbClr val="E8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389888"/>
            <a:ext cx="566928" cy="704088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1517904"/>
            <a:ext cx="530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48132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Packet Capture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9080" y="1481328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Efficiently capture and parse live or file-based network traffic using Scapy.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167128"/>
            <a:ext cx="10972800" cy="704088"/>
          </a:xfrm>
          <a:prstGeom prst="rect">
            <a:avLst/>
          </a:prstGeom>
          <a:solidFill>
            <a:srgbClr val="FD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2167128"/>
            <a:ext cx="566928" cy="704088"/>
          </a:xfrm>
          <a:prstGeom prst="rect">
            <a:avLst/>
          </a:prstGeom>
          <a:solidFill>
            <a:srgbClr val="E8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295144"/>
            <a:ext cx="530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A1800"/>
                </a:solidFill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25856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A1800"/>
                </a:solidFill>
              </a:rPr>
              <a:t>Anomaly Detection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2258568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1800"/>
                </a:solidFill>
              </a:rPr>
              <a:t>Detect threats like DoS attacks, Port Scans, and DNS anomalies in real time.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2944368"/>
            <a:ext cx="10972800" cy="704088"/>
          </a:xfrm>
          <a:prstGeom prst="rect">
            <a:avLst/>
          </a:prstGeom>
          <a:solidFill>
            <a:srgbClr val="E8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2944368"/>
            <a:ext cx="566928" cy="704088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3072384"/>
            <a:ext cx="530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03580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Web 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9080" y="3035808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Provide an intuitive, responsive UI to visualize traffic metrics and alerts.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3721608"/>
            <a:ext cx="10972800" cy="704088"/>
          </a:xfrm>
          <a:prstGeom prst="rect">
            <a:avLst/>
          </a:prstGeom>
          <a:solidFill>
            <a:srgbClr val="FD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4360" y="3721608"/>
            <a:ext cx="566928" cy="704088"/>
          </a:xfrm>
          <a:prstGeom prst="rect">
            <a:avLst/>
          </a:prstGeom>
          <a:solidFill>
            <a:srgbClr val="E8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8" y="3849624"/>
            <a:ext cx="530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A1800"/>
                </a:solidFill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381304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A1800"/>
                </a:solidFill>
              </a:rPr>
              <a:t>PCAP Forensics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69080" y="3813048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1800"/>
                </a:solidFill>
              </a:rPr>
              <a:t>Allow post-incident analysis by uploading .pcap files for offline investigation.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4498848"/>
            <a:ext cx="10972800" cy="704088"/>
          </a:xfrm>
          <a:prstGeom prst="rect">
            <a:avLst/>
          </a:prstGeom>
          <a:solidFill>
            <a:srgbClr val="E8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360" y="4498848"/>
            <a:ext cx="566928" cy="704088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" y="4626864"/>
            <a:ext cx="530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459028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Decoupled Design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9080" y="4590288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Implement a modern, scalable architecture (FastAPI backend + React frontend).</a:t>
            </a:r>
          </a:p>
        </p:txBody>
      </p:sp>
    </p:spTree>
    <p:extLst>
      <p:ext uri="{BB962C8B-B14F-4D97-AF65-F5344CB8AC3E}">
        <p14:creationId xmlns:p14="http://schemas.microsoft.com/office/powerpoint/2010/main" xmlns="" val="19586874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B8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261872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15800" y="0"/>
            <a:ext cx="73152" cy="12618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Proposed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4124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A800"/>
                </a:solidFill>
              </a:rPr>
              <a:t>System Architecture  |  Data Flow  |  Algorithm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9984"/>
            <a:ext cx="12188952" cy="128016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729984"/>
            <a:ext cx="320040" cy="12801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89888"/>
            <a:ext cx="5303520" cy="987552"/>
          </a:xfrm>
          <a:prstGeom prst="rect">
            <a:avLst/>
          </a:prstGeom>
          <a:solidFill>
            <a:srgbClr val="FFFFFF"/>
          </a:solidFill>
          <a:ln w="7620">
            <a:solidFill>
              <a:srgbClr val="E86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89888"/>
            <a:ext cx="1024128" cy="987552"/>
          </a:xfrm>
          <a:prstGeom prst="rect">
            <a:avLst/>
          </a:prstGeom>
          <a:solidFill>
            <a:srgbClr val="E8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444752"/>
            <a:ext cx="9875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Layer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883664"/>
            <a:ext cx="9875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Data Capture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91056" y="1499616"/>
            <a:ext cx="4023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1800"/>
                </a:solidFill>
              </a:rPr>
              <a:t>Scapy sniffs packets from network interface OR reads .pcap files via PCAPReader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19202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8601A"/>
                </a:solidFill>
              </a:rPr>
              <a:t>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560320"/>
            <a:ext cx="5303520" cy="987552"/>
          </a:xfrm>
          <a:prstGeom prst="rect">
            <a:avLst/>
          </a:prstGeom>
          <a:solidFill>
            <a:srgbClr val="FFFFFF"/>
          </a:solidFill>
          <a:ln w="7620">
            <a:solidFill>
              <a:srgbClr val="F4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560320"/>
            <a:ext cx="1024128" cy="987552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2615184"/>
            <a:ext cx="9875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A1800"/>
                </a:solidFill>
              </a:rPr>
              <a:t>Layer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3054096"/>
            <a:ext cx="9875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A1800"/>
                </a:solidFill>
              </a:rPr>
              <a:t>Detection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91056" y="2670048"/>
            <a:ext cx="4023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1800"/>
                </a:solidFill>
              </a:rPr>
              <a:t>Each packet passes through DoSDetector, PortScanDetector, DNSAnomalyDetector, MLAnomalyDetector.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309067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8601A"/>
                </a:solidFill>
              </a:rPr>
              <a:t>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730752"/>
            <a:ext cx="5303520" cy="987552"/>
          </a:xfrm>
          <a:prstGeom prst="rect">
            <a:avLst/>
          </a:prstGeom>
          <a:solidFill>
            <a:srgbClr val="FFFFFF"/>
          </a:solidFill>
          <a:ln w="7620">
            <a:solidFill>
              <a:srgbClr val="B84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730752"/>
            <a:ext cx="1024128" cy="987552"/>
          </a:xfrm>
          <a:prstGeom prst="rect">
            <a:avLst/>
          </a:prstGeom>
          <a:solidFill>
            <a:srgbClr val="B8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3785616"/>
            <a:ext cx="9875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Layer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" y="4224528"/>
            <a:ext cx="9875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Backend 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91056" y="3840480"/>
            <a:ext cx="4023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1800"/>
                </a:solidFill>
              </a:rPr>
              <a:t>FastAPI exposes /api/metrics, /api/alerts, /api/upload_pcap endpoints. WebSocket for live data.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426110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8601A"/>
                </a:solidFill>
              </a:rPr>
              <a:t>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901184"/>
            <a:ext cx="5303520" cy="987552"/>
          </a:xfrm>
          <a:prstGeom prst="rect">
            <a:avLst/>
          </a:prstGeom>
          <a:solidFill>
            <a:srgbClr val="FFFFFF"/>
          </a:solidFill>
          <a:ln w="7620">
            <a:solidFill>
              <a:srgbClr val="E86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901184"/>
            <a:ext cx="1024128" cy="987552"/>
          </a:xfrm>
          <a:prstGeom prst="rect">
            <a:avLst/>
          </a:prstGeom>
          <a:solidFill>
            <a:srgbClr val="E8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4956048"/>
            <a:ext cx="9875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Layer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" y="5394960"/>
            <a:ext cx="9875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Frontend UI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91056" y="5010912"/>
            <a:ext cx="4023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1800"/>
                </a:solidFill>
              </a:rPr>
              <a:t>React + Vite renders dashboards with charts, alert panels, and PCAP Forensics upload page.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44768" y="1389888"/>
            <a:ext cx="5486400" cy="4709160"/>
          </a:xfrm>
          <a:prstGeom prst="rect">
            <a:avLst/>
          </a:prstGeom>
          <a:solidFill>
            <a:srgbClr val="B8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44768" y="1389888"/>
            <a:ext cx="5486400" cy="475488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54496" y="1435608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1800"/>
                </a:solidFill>
              </a:rPr>
              <a:t>Data Flow Summary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54496" y="1993392"/>
            <a:ext cx="5257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Network Interface  ➜  Scapy Sniffer
         ⬇
Packet Parser (parse_packet)
         ⬇
Anomaly Detectors (4 Engines)
         ⬇
AlertManager  +  Database
         ⬇
FastAPI REST Endpoints
         ⬇
React Dashboard (Port 5173)</a:t>
            </a:r>
          </a:p>
        </p:txBody>
      </p:sp>
    </p:spTree>
    <p:extLst>
      <p:ext uri="{BB962C8B-B14F-4D97-AF65-F5344CB8AC3E}">
        <p14:creationId xmlns:p14="http://schemas.microsoft.com/office/powerpoint/2010/main" xmlns="" val="12872075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B8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261872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15800" y="0"/>
            <a:ext cx="73152" cy="12618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Technical Details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4124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A800"/>
                </a:solidFill>
              </a:rPr>
              <a:t>Hardware &amp; Software Requirements  |  Tech Stack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9984"/>
            <a:ext cx="12188952" cy="128016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729984"/>
            <a:ext cx="320040" cy="12801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89888"/>
            <a:ext cx="5230368" cy="5074920"/>
          </a:xfrm>
          <a:prstGeom prst="rect">
            <a:avLst/>
          </a:prstGeom>
          <a:solidFill>
            <a:srgbClr val="FD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89888"/>
            <a:ext cx="5230368" cy="512064"/>
          </a:xfrm>
          <a:prstGeom prst="rect">
            <a:avLst/>
          </a:prstGeom>
          <a:solidFill>
            <a:srgbClr val="E8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35608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⚙  Hardware Requirements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057400"/>
            <a:ext cx="4846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1800"/>
                </a:solidFill>
              </a:rPr>
              <a:t>• Standard PC / Laptop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70048"/>
            <a:ext cx="4846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1800"/>
                </a:solidFill>
              </a:rPr>
              <a:t>• Minimum 4 GB RAM (8 GB Recommended)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282696"/>
            <a:ext cx="4846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1800"/>
                </a:solidFill>
              </a:rPr>
              <a:t>• Multi-core Processor (Intel i3+ / AMD Ryzen 3+)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895344"/>
            <a:ext cx="4846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1800"/>
                </a:solidFill>
              </a:rPr>
              <a:t>• Network Interface Card (NIC) for live capture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07992"/>
            <a:ext cx="4846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1800"/>
                </a:solidFill>
              </a:rPr>
              <a:t>• 500 MB free disk space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53328" y="1389888"/>
            <a:ext cx="5715000" cy="5074920"/>
          </a:xfrm>
          <a:prstGeom prst="rect">
            <a:avLst/>
          </a:prstGeom>
          <a:solidFill>
            <a:srgbClr val="B8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53328" y="1389888"/>
            <a:ext cx="5715000" cy="512064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63056" y="1435608"/>
            <a:ext cx="5486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1800"/>
                </a:solidFill>
              </a:rPr>
              <a:t>💻  Tech Stack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3056" y="2048256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A800"/>
                </a:solidFill>
              </a:rPr>
              <a:t>Language: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1312" y="2048256"/>
            <a:ext cx="34015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Python 3.x  |  JavaScript (ES2022)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63056" y="2633472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A800"/>
                </a:solidFill>
              </a:rPr>
              <a:t>Capture: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633472"/>
            <a:ext cx="34015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Scapy (Packet Sniffing &amp; PCAP Parsing)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63056" y="3218688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A800"/>
                </a:solidFill>
              </a:rPr>
              <a:t>Backend: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2" y="3218688"/>
            <a:ext cx="34015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FastAPI + Uvicorn (REST API, WebSocket)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63056" y="3803904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A800"/>
                </a:solidFill>
              </a:rPr>
              <a:t>Frontend: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3803904"/>
            <a:ext cx="34015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React JS + Vite + TailwindCSS + DaisyUI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63056" y="4389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A800"/>
                </a:solidFill>
              </a:rPr>
              <a:t>Charts: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2" y="4389120"/>
            <a:ext cx="34015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Recharts (Interactive Data Visualizations)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63056" y="4974336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A800"/>
                </a:solidFill>
              </a:rPr>
              <a:t>Database: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2" y="4974336"/>
            <a:ext cx="34015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SQLite (via SQLAlchemy ORM)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63056" y="5559552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A800"/>
                </a:solidFill>
              </a:rPr>
              <a:t>OS Support: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2" y="5559552"/>
            <a:ext cx="34015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Linux (Recommended)  |  Windows</a:t>
            </a:r>
          </a:p>
        </p:txBody>
      </p:sp>
    </p:spTree>
    <p:extLst>
      <p:ext uri="{BB962C8B-B14F-4D97-AF65-F5344CB8AC3E}">
        <p14:creationId xmlns:p14="http://schemas.microsoft.com/office/powerpoint/2010/main" xmlns="" val="3420163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B8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261872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15800" y="0"/>
            <a:ext cx="73152" cy="12618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Expected Outcome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4124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A800"/>
                </a:solidFill>
              </a:rPr>
              <a:t>Deliverables  |  Results  |  Impact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9984"/>
            <a:ext cx="12188952" cy="128016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729984"/>
            <a:ext cx="320040" cy="12801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89888"/>
            <a:ext cx="5285232" cy="2121408"/>
          </a:xfrm>
          <a:prstGeom prst="rect">
            <a:avLst/>
          </a:prstGeom>
          <a:solidFill>
            <a:srgbClr val="FFFFFF"/>
          </a:solidFill>
          <a:ln w="7620">
            <a:solidFill>
              <a:srgbClr val="F4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89888"/>
            <a:ext cx="5285232" cy="530352"/>
          </a:xfrm>
          <a:prstGeom prst="rect">
            <a:avLst/>
          </a:prstGeom>
          <a:solidFill>
            <a:srgbClr val="E8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444752"/>
            <a:ext cx="502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/>
              <a:t>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1481328"/>
            <a:ext cx="4343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Functional Prototype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048256"/>
            <a:ext cx="502920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1800"/>
                </a:solidFill>
              </a:rPr>
              <a:t>A working system capable of real-time packet sniffing, anomaly detection, and alert generation.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7648" y="1389888"/>
            <a:ext cx="5285232" cy="2121408"/>
          </a:xfrm>
          <a:prstGeom prst="rect">
            <a:avLst/>
          </a:prstGeom>
          <a:solidFill>
            <a:srgbClr val="FFFFFF"/>
          </a:solidFill>
          <a:ln w="7620">
            <a:solidFill>
              <a:srgbClr val="F4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7648" y="1389888"/>
            <a:ext cx="5285232" cy="530352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444752"/>
            <a:ext cx="502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/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1481328"/>
            <a:ext cx="4343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1800"/>
                </a:solidFill>
              </a:rPr>
              <a:t>Modern Web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048256"/>
            <a:ext cx="502920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1800"/>
                </a:solidFill>
              </a:rPr>
              <a:t>A premium React-based UI with live metrics, chart visualizations, and a threat alert panel.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913632"/>
            <a:ext cx="5285232" cy="2121408"/>
          </a:xfrm>
          <a:prstGeom prst="rect">
            <a:avLst/>
          </a:prstGeom>
          <a:solidFill>
            <a:srgbClr val="FFFFFF"/>
          </a:solidFill>
          <a:ln w="7620">
            <a:solidFill>
              <a:srgbClr val="F4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913632"/>
            <a:ext cx="5285232" cy="530352"/>
          </a:xfrm>
          <a:prstGeom prst="rect">
            <a:avLst/>
          </a:prstGeom>
          <a:solidFill>
            <a:srgbClr val="B8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968496"/>
            <a:ext cx="502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/>
              <a:t>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005072"/>
            <a:ext cx="4343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PCAP Forensics Module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572000"/>
            <a:ext cx="502920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1800"/>
                </a:solidFill>
              </a:rPr>
              <a:t>Post-incident analysis by uploading .pcap files to extract packets and generate threat reports.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7648" y="3913632"/>
            <a:ext cx="5285232" cy="2121408"/>
          </a:xfrm>
          <a:prstGeom prst="rect">
            <a:avLst/>
          </a:prstGeom>
          <a:solidFill>
            <a:srgbClr val="FFFFFF"/>
          </a:solidFill>
          <a:ln w="7620">
            <a:solidFill>
              <a:srgbClr val="F4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27648" y="3913632"/>
            <a:ext cx="5285232" cy="530352"/>
          </a:xfrm>
          <a:prstGeom prst="rect">
            <a:avLst/>
          </a:prstGeom>
          <a:solidFill>
            <a:srgbClr val="E8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7376" y="3968496"/>
            <a:ext cx="502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/>
              <a:t>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4005072"/>
            <a:ext cx="4343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Scalable Architecture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4808" y="4572000"/>
            <a:ext cx="502920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1800"/>
                </a:solidFill>
              </a:rPr>
              <a:t>A fully decoupled FastAPI + React pattern that can be easily extended for production use.</a:t>
            </a:r>
          </a:p>
        </p:txBody>
      </p:sp>
    </p:spTree>
    <p:extLst>
      <p:ext uri="{BB962C8B-B14F-4D97-AF65-F5344CB8AC3E}">
        <p14:creationId xmlns:p14="http://schemas.microsoft.com/office/powerpoint/2010/main" xmlns="" val="27453561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61872"/>
          </a:xfrm>
          <a:prstGeom prst="rect">
            <a:avLst/>
          </a:prstGeom>
          <a:solidFill>
            <a:srgbClr val="B8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261872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15800" y="0"/>
            <a:ext cx="73152" cy="12618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References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9984"/>
            <a:ext cx="12188952" cy="128016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29984"/>
            <a:ext cx="320040" cy="12801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89888"/>
            <a:ext cx="11292840" cy="5120640"/>
          </a:xfrm>
          <a:prstGeom prst="rect">
            <a:avLst/>
          </a:prstGeom>
          <a:solidFill>
            <a:srgbClr val="FDF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572768"/>
            <a:ext cx="11064240" cy="6766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572768"/>
            <a:ext cx="73152" cy="676656"/>
          </a:xfrm>
          <a:prstGeom prst="rect">
            <a:avLst/>
          </a:prstGeom>
          <a:solidFill>
            <a:srgbClr val="E8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682496"/>
            <a:ext cx="10744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1800"/>
                </a:solidFill>
              </a:rPr>
              <a:t>[1]  RFC 793 – Transmission Control Protocol (TCP). IETF, 1981.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40864"/>
            <a:ext cx="11064240" cy="6766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340864"/>
            <a:ext cx="73152" cy="676656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450592"/>
            <a:ext cx="10744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1800"/>
                </a:solidFill>
              </a:rPr>
              <a:t>[2]  Scapy Documentation – Packet Manipulation Library. https://scapy.net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108960"/>
            <a:ext cx="11064240" cy="6766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08960"/>
            <a:ext cx="73152" cy="676656"/>
          </a:xfrm>
          <a:prstGeom prst="rect">
            <a:avLst/>
          </a:prstGeom>
          <a:solidFill>
            <a:srgbClr val="E8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3218688"/>
            <a:ext cx="10744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1800"/>
                </a:solidFill>
              </a:rPr>
              <a:t>[3]  FastAPI Official Documentation – High Performance APIs with Python. https://fastapi.tiangolo.com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77056"/>
            <a:ext cx="11064240" cy="6766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3877056"/>
            <a:ext cx="73152" cy="676656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3986784"/>
            <a:ext cx="10744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1800"/>
                </a:solidFill>
              </a:rPr>
              <a:t>[4]  React JS Official Documentation – A JavaScript Library for Building UIs. https://react.dev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645152"/>
            <a:ext cx="11064240" cy="6766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645152"/>
            <a:ext cx="73152" cy="676656"/>
          </a:xfrm>
          <a:prstGeom prst="rect">
            <a:avLst/>
          </a:prstGeom>
          <a:solidFill>
            <a:srgbClr val="E86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754880"/>
            <a:ext cx="10744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1800"/>
                </a:solidFill>
              </a:rPr>
              <a:t>[5]  V. Chandola et al. – "Anomaly Detection: A Survey". ACM Computing Surveys, 2009.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5413248"/>
            <a:ext cx="11064240" cy="6766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5413248"/>
            <a:ext cx="73152" cy="676656"/>
          </a:xfrm>
          <a:prstGeom prst="rect">
            <a:avLst/>
          </a:prstGeom>
          <a:solidFill>
            <a:srgbClr val="F4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5522976"/>
            <a:ext cx="10744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A1800"/>
                </a:solidFill>
              </a:rPr>
              <a:t>[6]  TailwindCSS &amp; DaisyUI Component Library – https://daisyui.com</a:t>
            </a:r>
          </a:p>
        </p:txBody>
      </p:sp>
    </p:spTree>
    <p:extLst>
      <p:ext uri="{BB962C8B-B14F-4D97-AF65-F5344CB8AC3E}">
        <p14:creationId xmlns:p14="http://schemas.microsoft.com/office/powerpoint/2010/main" xmlns="" val="2234256939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32</TotalTime>
  <Words>129</Words>
  <Application>Microsoft Office PowerPoint</Application>
  <PresentationFormat>Custom</PresentationFormat>
  <Paragraphs>43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Retrospect</vt:lpstr>
      <vt:lpstr>Indore Institute of Science &amp; Technology</vt:lpstr>
      <vt:lpstr>Outline</vt:lpstr>
      <vt:lpstr> Proposed Area and Topic  </vt:lpstr>
      <vt:lpstr>Introduction</vt:lpstr>
      <vt:lpstr>Objectives</vt:lpstr>
      <vt:lpstr>Proposed Methodology  </vt:lpstr>
      <vt:lpstr>Technical Details  </vt:lpstr>
      <vt:lpstr> Expected Outcome  </vt:lpstr>
      <vt:lpstr>  References 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Indore Institute of Science &amp; Technology</dc:title>
  <dc:creator>IIST</dc:creator>
  <cp:lastModifiedBy>Admin</cp:lastModifiedBy>
  <cp:revision>6</cp:revision>
  <dcterms:created xsi:type="dcterms:W3CDTF">2026-09-21T09:01:15Z</dcterms:created>
  <dcterms:modified xsi:type="dcterms:W3CDTF">2026-10-08T13:18:44Z</dcterms:modified>
</cp:coreProperties>
</file>